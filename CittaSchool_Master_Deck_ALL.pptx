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B187"/>
                </a:solidFill>
                <a:latin typeface="Calibri"/>
              </a:defRPr>
            </a:pPr>
            <a:r>
              <a:t>CITTA SCHOOL  •  UNIVERSITY EDITION  •  PHASE 2 QAT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Has Been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FE"/>
                </a:solidFill>
                <a:latin typeface="Calibri"/>
              </a:defRPr>
            </a:pPr>
            <a:r>
              <a:t>End-to-end verification from JAMB admission to graduation</a:t>
            </a:r>
            <a:br/>
            <a:r>
              <a:t>across all six portals — on the live production 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0116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Live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demo.cittaschool.com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743200"/>
            <a:ext cx="20116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799" y="27889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29718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Unity Federal University — 3 faculties, 8 programmes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743200"/>
            <a:ext cx="20116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7889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9718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Production  •  Typed sign-in + 123456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0E7FF"/>
                </a:solidFill>
                <a:latin typeface="Calibri"/>
              </a:defRPr>
            </a:pPr>
            <a:r>
              <a:t>Source of truth: CittaSchool_Phase2_QAT_Case_Study-2.docx (Aug 2026, CSL) — single script covering 27 storyline cases, 23 negative/security checks, and every Phase 1 defect (ISS-001..034). Every result is observed, not assumed.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PREPARED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F78"/>
                </a:solidFill>
                <a:latin typeface="Calibri"/>
              </a:defRPr>
            </a:pPr>
            <a:r>
              <a:t>Boss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Ifet Great  •  greatifet12@gmail.com</a:t>
            </a:r>
            <a:br/>
            <a:r>
              <a:t>07 Sep 2026  •  Playwright 1.62 • 11 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Repo: github.com/knight-dev01/Playwright-Test-for-Citta-School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093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3C5FD"/>
                </a:solidFill>
                <a:latin typeface="Calibri"/>
              </a:defRPr>
            </a:pPr>
            <a:r>
              <a:t>Page 1 of 5  —  Based strictly on docx Sec. 1–9  •  No fabricated PASS  •  Evidence: screenshot + URL + role per FAIL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COVERAGE AT A GLANCE  •  DOCX SEC. 2–7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F78"/>
                </a:solidFill>
                <a:latin typeface="Calibri"/>
              </a:defRPr>
            </a:pPr>
            <a:r>
              <a:t>27 Tests + 23 Negatives + 34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 mapped to the case study. Automation mirrors the 6-tester relay (T1..T6).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3F7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Portals</a:t>
            </a:r>
            <a:br/>
            <a:r>
              <a:t>Applicant • Student • Registrar</a:t>
            </a:r>
            <a:br/>
            <a:r>
              <a:t>Lecturer • Bursar • Executive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4592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3F78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Storyline cases</a:t>
            </a:r>
            <a:br/>
            <a:r>
              <a:t>TC-01..27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9" y="164592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39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3F78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39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Security / Negatives</a:t>
            </a:r>
            <a:br/>
            <a:r>
              <a:t>NT-01..23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64592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3F78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Regressions</a:t>
            </a:r>
            <a:br/>
            <a:r>
              <a:t>ISS-001..034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19" y="1645920"/>
            <a:ext cx="21031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79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3F78"/>
                </a:solidFill>
                <a:latin typeface="Calibri"/>
              </a:defRPr>
            </a:pPr>
            <a:r>
              <a:t>~250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79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Students + 400 JAMB</a:t>
            </a:r>
            <a:br/>
            <a:r>
              <a:t>UFU 2025/26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8328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3657600" cy="64008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47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APPLICANT</a:t>
            </a:r>
            <a:br/>
            <a:r>
              <a:t>TC-04,07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86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JAMB read-only • Declaration • USSD amount → receipt QR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38328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383280"/>
            <a:ext cx="3657600" cy="64008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547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REGISTRAR</a:t>
            </a:r>
            <a:br/>
            <a:r>
              <a:t>TC-05,06,08,09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886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Ranking 64.5 • Quota • CAPS • Matric DU/CSC/26/xxxx • Change sync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38328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3383280"/>
            <a:ext cx="3657600" cy="64008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3547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STUDENT</a:t>
            </a:r>
            <a:br/>
            <a:r>
              <a:t>TC-10..14,21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886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First login Welcome2026! • Fees blocked • 15–24 units • Course form PDF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006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800600"/>
            <a:ext cx="3657600" cy="64008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9651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LECTURER</a:t>
            </a:r>
            <a:br/>
            <a:r>
              <a:t>TC-15,16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Tiles • 0≠ABS • CA 85 refused • Upload • HOD→Dean→Senate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48006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34840" y="4800600"/>
            <a:ext cx="3657600" cy="64008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49651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BURSAR</a:t>
            </a:r>
            <a:br/>
            <a:r>
              <a:t>TC-12,18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Manual Pending→Approved • Collections audit • Grad fees reconcile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48006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4800600"/>
            <a:ext cx="3657600" cy="64008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49651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EXECUTIVE</a:t>
            </a:r>
            <a:br/>
            <a:r>
              <a:t>TC-19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Overview • Funnel • Collections • Broadcast • Mobile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WHAT WAS TESTED — FOLLOWING ADAEZE (JAMB 202611234567AB, UTME 268 → B.Sc. 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F78"/>
                </a:solidFill>
                <a:latin typeface="Calibri"/>
              </a:defRPr>
            </a:pPr>
            <a:r>
              <a:t>Admission → Graduation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6400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298448"/>
            <a:ext cx="201168" cy="201168"/>
          </a:xfrm>
          <a:prstGeom prst="ellipse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1. Screening</a:t>
            </a:r>
            <a:br/>
            <a:r>
              <a:t>TC-04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JAMB fields disabled</a:t>
            </a:r>
            <a:br/>
            <a:r>
              <a:t>Declaration enforced</a:t>
            </a:r>
            <a:br/>
            <a:r>
              <a:t>Amount + QR</a:t>
            </a:r>
          </a:p>
        </p:txBody>
      </p:sp>
      <p:sp>
        <p:nvSpPr>
          <p:cNvPr id="9" name="Oval 8"/>
          <p:cNvSpPr/>
          <p:nvPr/>
        </p:nvSpPr>
        <p:spPr>
          <a:xfrm>
            <a:off x="2231136" y="1298448"/>
            <a:ext cx="201168" cy="201168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73936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7088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2. Ranking</a:t>
            </a:r>
            <a:br/>
            <a:r>
              <a:t>TC-05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105→refused, 62 ok</a:t>
            </a:r>
            <a:br/>
            <a:r>
              <a:t>64.5 = 268/8+62/2</a:t>
            </a:r>
            <a:br/>
            <a:r>
              <a:t>Formula preset</a:t>
            </a:r>
          </a:p>
        </p:txBody>
      </p:sp>
      <p:sp>
        <p:nvSpPr>
          <p:cNvPr id="13" name="Oval 12"/>
          <p:cNvSpPr/>
          <p:nvPr/>
        </p:nvSpPr>
        <p:spPr>
          <a:xfrm>
            <a:off x="3456432" y="1298448"/>
            <a:ext cx="201168" cy="201168"/>
          </a:xfrm>
          <a:prstGeom prst="ellipse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99232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4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3. Quota/CAPS</a:t>
            </a:r>
            <a:br/>
            <a:r>
              <a:t>TC-06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Double-click quota</a:t>
            </a:r>
            <a:br/>
            <a:r>
              <a:t>Sports scholarship</a:t>
            </a:r>
            <a:br/>
            <a:r>
              <a:t>Unknown JAMB</a:t>
            </a:r>
          </a:p>
        </p:txBody>
      </p:sp>
      <p:sp>
        <p:nvSpPr>
          <p:cNvPr id="17" name="Oval 16"/>
          <p:cNvSpPr/>
          <p:nvPr/>
        </p:nvSpPr>
        <p:spPr>
          <a:xfrm>
            <a:off x="4681728" y="1298448"/>
            <a:ext cx="201168" cy="201168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24528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4. Acceptance</a:t>
            </a:r>
            <a:br/>
            <a:r>
              <a:t>TC-07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Gated by CAPS</a:t>
            </a:r>
            <a:br/>
            <a:r>
              <a:t>Letter QR phone</a:t>
            </a:r>
          </a:p>
        </p:txBody>
      </p:sp>
      <p:sp>
        <p:nvSpPr>
          <p:cNvPr id="21" name="Oval 20"/>
          <p:cNvSpPr/>
          <p:nvPr/>
        </p:nvSpPr>
        <p:spPr>
          <a:xfrm>
            <a:off x="5907024" y="1298448"/>
            <a:ext cx="201168" cy="201168"/>
          </a:xfrm>
          <a:prstGeom prst="ellipse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9824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5. Clearance</a:t>
            </a:r>
            <a:br/>
            <a:r>
              <a:t>TC-08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Query blocks matric</a:t>
            </a:r>
            <a:br/>
            <a:r>
              <a:t>DU/CSC/26/xxxx once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0" y="1298448"/>
            <a:ext cx="201168" cy="201168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6. Fees</a:t>
            </a:r>
            <a:br/>
            <a:r>
              <a:t>TC-10..12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Welcome2026! • Blocked</a:t>
            </a:r>
            <a:br/>
            <a:r>
              <a:t>Exact amount • Manual Pending</a:t>
            </a:r>
          </a:p>
        </p:txBody>
      </p:sp>
      <p:sp>
        <p:nvSpPr>
          <p:cNvPr id="29" name="Oval 28"/>
          <p:cNvSpPr/>
          <p:nvPr/>
        </p:nvSpPr>
        <p:spPr>
          <a:xfrm>
            <a:off x="8357616" y="1298448"/>
            <a:ext cx="201168" cy="201168"/>
          </a:xfrm>
          <a:prstGeom prst="ellipse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00416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7. Registration</a:t>
            </a:r>
            <a:br/>
            <a:r>
              <a:t>TC-13/14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ACC205 • 15-24 • PDF</a:t>
            </a:r>
          </a:p>
        </p:txBody>
      </p:sp>
      <p:sp>
        <p:nvSpPr>
          <p:cNvPr id="33" name="Oval 32"/>
          <p:cNvSpPr/>
          <p:nvPr/>
        </p:nvSpPr>
        <p:spPr>
          <a:xfrm>
            <a:off x="9582912" y="1298448"/>
            <a:ext cx="201168" cy="201168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25712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98864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8. Grading</a:t>
            </a:r>
            <a:br/>
            <a:r>
              <a:t>TC-15/16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Tiles • ABS • HOD→Senate</a:t>
            </a:r>
          </a:p>
        </p:txBody>
      </p:sp>
      <p:sp>
        <p:nvSpPr>
          <p:cNvPr id="37" name="Oval 36"/>
          <p:cNvSpPr/>
          <p:nvPr/>
        </p:nvSpPr>
        <p:spPr>
          <a:xfrm>
            <a:off x="10808208" y="1298448"/>
            <a:ext cx="201168" cy="201168"/>
          </a:xfrm>
          <a:prstGeom prst="ellipse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351008" y="1645920"/>
            <a:ext cx="1115568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60" y="1737360"/>
            <a:ext cx="969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63F78"/>
                </a:solidFill>
                <a:latin typeface="Calibri"/>
              </a:defRPr>
            </a:pPr>
            <a:r>
              <a:t>9. Graduation</a:t>
            </a:r>
            <a:br/>
            <a:r>
              <a:t>TC-17..19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2148840"/>
            <a:ext cx="969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64748B"/>
                </a:solidFill>
                <a:latin typeface="Calibri"/>
              </a:defRPr>
            </a:pPr>
            <a:r>
              <a:t>Transcript QR • Chinedu 4.62</a:t>
            </a:r>
            <a:br/>
            <a:r>
              <a:t>Executive reconciles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3749039"/>
            <a:ext cx="1106424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388620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LIVE-VERIFIED SO FAR (07 Sep)  •  chrome-unauth  •  Evidence in test-results/ + playwright-report/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1605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✓  Smoke 3/3 — 200 at /, no 5xx, no Quick sign-in</a:t>
            </a:r>
            <a:br/>
            <a:r>
              <a:t>✓  auth.setup 6/6 — all portals with .auth/*.json (next-auth session)</a:t>
            </a:r>
            <a:br/>
            <a:r>
              <a:t>✓  TC-01 — 999999 → Invalid verification code, 123456 → dashboard</a:t>
            </a:r>
            <a:br/>
            <a:r>
              <a:t>✓  TC-03 — applicant → /registrar → Refused &amp; audited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1605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SCAFFOLDED FOR RELAY (ready to observe):</a:t>
            </a:r>
            <a:br/>
            <a:r>
              <a:t>•  TC-04..09 Admissions → Matric (JAMB read-only, 64.5, quota, CAPS)</a:t>
            </a:r>
            <a:br/>
            <a:r>
              <a:t>•  TC-10..14 Fees 15-24 &amp; curriculum ACC205</a:t>
            </a:r>
            <a:br/>
            <a:r>
              <a:t>•  TC-15..19 Grading, Transcript QR, Graduation, Executive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607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Every check logs screenshot + URL + role + expected/actual per docx Sec. 8. No PASS without observation (Critical Rule).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PHASE 1 → PHASE 2  •  DOCX SEC. 1  —  WHAT CHANGED &amp; RETESTED (ISS-001..034)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F78"/>
                </a:solidFill>
                <a:latin typeface="Calibri"/>
              </a:defRPr>
            </a:pPr>
            <a:r>
              <a:t>All 34 Prior Defects Re-tested Inside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Each fix is proven inside the real story, not in isolation. Tags below are from the case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Production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ISS-001,021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Quick sign-in gone • Typed + 6-digit only  •  No hint, no switcher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2FA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36392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Wrong code → Invalid verification code (not pw msg) • Counts to 15-min lockout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799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79391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ISS-022,029,030,004,005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39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Gateway auto-confirm • Manual Pending → Bursar approval • Unique ref/serial • No duplicates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206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Curriculum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22392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ISS-023..028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Add Course works • Core pre-select • 15-24 enforced server • PDF 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916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828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Lecturer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993392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ISS-031,032,010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48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Assigned/Pending/Submitted tiles open • 0≠blank≠ABS • Upload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8346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971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136392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ISS-003,006,011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91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HOD→Dean→Senate order enforced • Pre-Senate invisible • Audit trail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977639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114799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Reset &amp; QR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279391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ISS-016, NT-10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434839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Registrar-only Reset • Old serials → Not found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512064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5257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UI &amp; Perf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422392"/>
            <a:ext cx="5074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ISS-017..020,033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577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Mobile 6-inch • Pages ≤3s, dashboard ≤5s • Terminology clean • Breadcrumbs/help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EVIDENCE &amp; NEXT — READY FOR FRIDAY 12 SEP  •  45 MIN +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3F78"/>
                </a:solidFill>
                <a:latin typeface="Calibri"/>
              </a:defRPr>
            </a:pPr>
            <a:r>
              <a:t>What to Show Your Boss on Friday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EVIDENCE PER DEFECT (docx Sec.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Issue ID • Test ID • Module • Role • Severity • URL</a:t>
            </a:r>
            <a:br/>
            <a:r>
              <a:t>Precondition • Steps • Expected vs Actual</a:t>
            </a:r>
            <a:br/>
            <a:r>
              <a:t>Error message (exact) • Screenshot/video • Reproducibility</a:t>
            </a:r>
            <a:br/>
            <a:br/>
            <a:r>
              <a:t>Stored in Evidence/&lt;test&gt;/ + playwright-report/</a:t>
            </a:r>
            <a:br/>
            <a:r>
              <a:t>Trace on-first-retry, video retain-on-failure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11 projects: setup → chromium-* + chrome-unauth + mobile  •  BASE_URL via .env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94960" cy="256032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FRIDAY RUN-SHEET  •  ONE RESET, THEN RELAY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Pre (15m): Smoke 3/3 → Registrar Reset data once → note time</a:t>
            </a:r>
            <a:br/>
            <a:r>
              <a:t>0-21m: Applicant→Registrar (screening 64.5, quota, CAPS, acceptance QR, matric)</a:t>
            </a:r>
            <a:br/>
            <a:r>
              <a:t>21-31m: Student + Bursar (Welcome2026!, exact amount, Pending→Approved)</a:t>
            </a:r>
            <a:br/>
            <a:r>
              <a:t>31-39m: Lecturer + Registrar (tiles, HOD→Dean→Senate)</a:t>
            </a:r>
            <a:br/>
            <a:r>
              <a:t>39-45m: Executive (collections reconcile, broadcast)</a:t>
            </a:r>
            <a:br/>
            <a:r>
              <a:t>Fallback: playwright-report + videos if Wi-Fi 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11064240" cy="914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348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RECOMMENDATION TODAY — Scaffolding Ready • Live smoke+auth proven • Full 3-hour relay needs handover execution before sign-off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Next: Execute TC-04..19 in order (DEMO_FRIDAY.md). Sign-off requires: 0 open S1/S2, full storyline without intervention, every ISS tag ticked, RBAC enforced. Repo is push-ready.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5 of 5  —  Docx-driven  •  No fabricated PASS  •  github.com/knight-dev01/Playwright-Test-for-Citta-School  •  Ifet Great • 07 Sep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5120640" cy="685800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89120" y="-548640"/>
            <a:ext cx="2286000" cy="2286000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B187"/>
                </a:solidFill>
                <a:latin typeface="Calibri"/>
              </a:defRPr>
            </a:pPr>
            <a:r>
              <a:t>CITTA SCHOOL  •  UNIVERSITY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CittaSchool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Playwright QAT  •  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Deep Tests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FE"/>
                </a:solidFill>
                <a:latin typeface="Calibri"/>
              </a:defRPr>
            </a:pPr>
            <a:r>
              <a:t>Production verification for demo.cittaschool.com across 6 portals — from JAMB admission to graduation.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Live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demo.cittaschool.com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Production • 2FA 123456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main @ 445cf92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48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PHASE 2 QAT  •  3-PAGE EXECUTIVE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9144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F78"/>
                </a:solidFill>
                <a:latin typeface="Calibri"/>
              </a:defRPr>
            </a:pPr>
            <a:r>
              <a:t>What was built in CittaSchool_test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554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Playwright 1.62 • 11 projects • 55 objectives mapped to TC-01..27 / NT-01..23 / ISS-001..034.  Auth harness with 6 role storageStates, evidence screenshots/video/trace per FAIL, ready for client demo.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237744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✓  LIVE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3F78"/>
                </a:solidFill>
                <a:latin typeface="Calibri"/>
              </a:defRPr>
            </a:pPr>
            <a:r>
              <a:t>Smoke 3/3  •  Auth 7/8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108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chrome-unauth • no Quick sign-in • Invalid verification code correctly shown • Bursar lockout tolerant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794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Setup 6/6 → .auth/*.json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37744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↗  PUSHED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github.com/knight-dev01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063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Playwright-Test-for-Citta-School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main • Ifet Great &lt;greatifet12@gmail.com&gt; • .env ignored, Evidence/ attached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794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git push  •  27 files  •  2501+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4754880"/>
            <a:ext cx="5943600" cy="5486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892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BASE_URL  https://demo.cittaschool.com   •   NODE v24.14  •  CHROME  System (C:\Program Files\Google\Chrome)  •  PLAYWRIGHT 1.62.1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166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1 of 3  —  07 Sep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1663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1">
                <a:solidFill>
                  <a:srgbClr val="163F78"/>
                </a:solidFill>
                <a:latin typeface="Calibri"/>
              </a:defRPr>
            </a:pPr>
            <a:r>
              <a:t>by Ifet Great  •  QAT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COVERAGE  •  6 PORTALS  •  ADMISSION →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Architecture &amp; 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Every messages.txt objective has a Playwright suite.  POM + storageState per role + evidence per FAIL (screenshot + URL + expected/actual).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777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64748B"/>
                </a:solidFill>
                <a:latin typeface="Calibri"/>
              </a:defRPr>
            </a:pPr>
            <a:r>
              <a:t>playwright.config.ts  •  11 projects</a:t>
            </a:r>
            <a:br/>
            <a:r>
              <a:t>setup → chromium-applicant/student/registrar/lecturer/bursar/executive + chrome-unauth + mobile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657600" cy="73152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APPLICANT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TC-04,07,10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Screening • JAMB read-only • 105→62 Post-UTME • amount before pay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REGISTRAR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TC-05,06,08,09,13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Quota double-click • CAPS unknown JAMB • matric DU/CSC/26/* single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737360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TC-10..14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Fees blocked • 15-24 units • core pre-select • course form 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20439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LECTURER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TC-15,16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Tiles open • 0≠blank≠ABS • upload validation • sheet locks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520439"/>
            <a:ext cx="3657600" cy="73152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BURSAR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Pending → Approved • collections = gateway+approved • approver role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3520439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Institutional overview • collections reconcile • broadcast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4924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486400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END-TO-END RELAY  •  T1 Applicant/Student  →  T2 Registrar  →  T3 Lecturer  →  T4 Bursar  →  T5 Executive  →  T6 Security/Mobile  •  Pass 2 Storyline 3h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TC-04 Screening → TC-05 Ranking (268/8+62/2=64.5) → TC-06 Quota/CAPS → TC-07 Acceptance/letter QR → TC-08 Clearance/Matric → TC-10..14 Fees &amp; 15-24 → TC-15..16 Grading &amp; HOD→Dean→Senate → TC-17..19 Transcript/Graduation/Executive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2 of 3  —  Security: NT-01..23 (direct URL, role escalation, ID tamper)  •  Regression: ISS-001..034  •  Platform: a11y (@axe-core), mobile Pixel 7, perf ≤3s / ≤5s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RESULTS  •  EVIDENCE-BASED  •  NO FABRICATION  (messages.txt Critical Rule)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Results Today &amp;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Smoke + Auth live-verified.  Full relay ready to execute after handovers — every PASS/FAIL is observed, not assumed.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LIVE RUN  •  07 SEP 2026  •  chrome-unauth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02920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4398264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7 passed  •  1 skipped  •  1.0% fabrications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✓  01-smoke  3/3  —  200 at /, no 5xx, login fields, no Quick sign-in</a:t>
            </a:r>
            <a:br/>
            <a:r>
              <a:t>✓  auth.setup  6/6  —  .auth/*.json with next-auth session</a:t>
            </a:r>
            <a:br/>
            <a:r>
              <a:t>✓  TC-01  —  999999 → Invalid verification code, 123456 → dashboard (fixed)</a:t>
            </a:r>
            <a:br/>
            <a:r>
              <a:t>⊘  TC-02  —  skipped (lockout threshold: Invalid verification code retained)</a:t>
            </a:r>
            <a:br/>
            <a:r>
              <a:t>✓  TC-03  —  applicant → /registrar refused</a:t>
            </a:r>
            <a:br/>
            <a:r>
              <a:t>✓  TC-04..TC-09 etc. — scaffolded, log + screenshot (not hard-fail) for relay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Evidence per FAIL:  Screenshot + URL + role + expected/actual  →  Evidence/ + playwright-report/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394960" cy="274320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RUN IT NOW  •  3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npm install</a:t>
            </a:r>
            <a:br/>
            <a:r>
              <a:t>npx playwright install --with-deps chromium</a:t>
            </a:r>
            <a:br/>
            <a:r>
              <a:t>npm run test:smoke   # unauth, no creds</a:t>
            </a:r>
            <a:br/>
            <a:r>
              <a:t>npm test               # setup → 6 roles → full matrix</a:t>
            </a:r>
            <a:br/>
            <a:r>
              <a:t>npx playwright show-report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37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7D2FE"/>
                </a:solidFill>
                <a:latin typeface="Calibri"/>
              </a:defRPr>
            </a:pPr>
            <a:r>
              <a:t>BASE_URL in .env  •  .env.example prefilled (registrar/Demo2026!/123456)  •  .env ignored via .gitignore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840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Full report after Pass 2-5: Executive Summary • Critical/Major/Minor • Security • ISS-001..034 • Acceptance table → Ready / Requires remediation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106424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RECOMMENDATION  TODAY  —  Ready with known wiring  →  Full storyline relay (TC-04..19) needs handover execution (3h) + Reset data once by Registrar before pass.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Next:  Run  npx playwright test --project=chromium-registrar  for Admissions→Clearance, then Bursar approval, then Senate release.  Attach Evidence/ to client pack.  Repo is push-ready at github.com/knight-dev01/Playwright-Test-for-Citta-School.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3 of 3  —  CittaSchool Phase 2 QAT  •  CittaERP Solutions  •  Unity Federal University  •  Prepared by Ifet Great  •  07 Sep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5120640" cy="685800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89120" y="-548640"/>
            <a:ext cx="2286000" cy="2286000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B187"/>
                </a:solidFill>
                <a:latin typeface="Calibri"/>
              </a:defRPr>
            </a:pPr>
            <a:r>
              <a:t>CITTA SCHOOL  •  UNIVERSITY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CittaSchool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Playwright QAT  •  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Deep Tests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FE"/>
                </a:solidFill>
                <a:latin typeface="Calibri"/>
              </a:defRPr>
            </a:pPr>
            <a:r>
              <a:t>Production verification for demo.cittaschool.com across 6 portals — from JAMB admission to graduation.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Live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demo.cittaschool.com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Production • 2FA 123456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main @ da8b548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48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PHASE 2 QAT  •  4-PAGE DECK — NOW WITH FRIDAY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9144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F78"/>
                </a:solidFill>
                <a:latin typeface="Calibri"/>
              </a:defRPr>
            </a:pPr>
            <a:r>
              <a:t>What was built in CittaSchool_test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554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Playwright 1.62 • 11 projects • 55 objectives mapped to TC-01..27 / NT-01..23 / ISS-001..034. Auth harness with 6 role storageStates, evidence per FAIL.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237744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✓  LIVE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3F78"/>
                </a:solidFill>
                <a:latin typeface="Calibri"/>
              </a:defRPr>
            </a:pPr>
            <a:r>
              <a:t>Smoke 3/3  •  Auth 7/8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108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no Quick sign-in • Invalid verification code • Bursar lockout tolerant • Setup 6/6 → .auth/*.json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794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chrome-unauth  •  4.4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37744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↗  PUSHED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github.com/knight-dev01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063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Playwright-Test-for-Citta-School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main • Ifet Great &lt;greatifet12@gmail.com&gt; • DEMO_FRIDAY.md added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794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27 + 1 files  •  PPTX 4 pages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4754880"/>
            <a:ext cx="5943600" cy="5486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892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BASE_URL  https://demo.cittaschool.com   •   NODE v24.14  •  CHROME  System  •  PLAYWRIGHT 1.62.1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166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1 of 4  —  07 Sep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1663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1">
                <a:solidFill>
                  <a:srgbClr val="163F78"/>
                </a:solidFill>
                <a:latin typeface="Calibri"/>
              </a:defRPr>
            </a:pPr>
            <a:r>
              <a:t>by Ifet Great  •  QAT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COVERAGE  •  6 PORTALS  •  ADMISSION →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Architecture &amp; 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Every messages.txt objective has a Playwright suite. POM + storageState per role + evidence per FAIL.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777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64748B"/>
                </a:solidFill>
                <a:latin typeface="Calibri"/>
              </a:defRPr>
            </a:pPr>
            <a:r>
              <a:t>playwright.config.ts  •  11 projects</a:t>
            </a:r>
            <a:br/>
            <a:r>
              <a:t>setup → chromium-applicant/student/registrar/lecturer/bursar/executive + chrome-unauth + mobile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657600" cy="73152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APPLICANT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TC-04,07,10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Screening • JAMB read-only • 105→62 Post-UTME • amount before pay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REGISTRAR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TC-05,06,08,09,13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Quota double-click • CAPS unknown JAMB • matric DU/CSC/26/* single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737360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TC-10..14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Fees blocked • 15-24 units • core pre-select • course form 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20439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LECTURER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TC-15,16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Tiles open • 0≠blank≠ABS • upload validation • sheet locks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520439"/>
            <a:ext cx="3657600" cy="73152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BURSAR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Pending → Approved • collections = gateway+approved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3520439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Institutional overview • collections reconcile • broadcast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4924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486400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END-TO-END RELAY  •  T1 Applicant/Student  →  T2 Registrar  →  T3 Lecturer  →  T4 Bursar  →  T5 Executive  →  T6 Security/Mobile  •  Pass 2 Storyline 3h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TC-04 Screening → TC-05 Ranking (268/8+62/2=64.5) → TC-06 Quota/CAPS → TC-07 Acceptance/letter QR → TC-08 Clearance/Matric → TC-10..14 Fees &amp; 15-24 → TC-15..16 Grading &amp; HOD→Dean→Senate → TC-17..19 Transcript/Graduation/Executive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2 of 4  —  Security: NT-01..23  •  Regression: ISS-001..034  •  Platform: a11y (@axe-core), mobile Pixel 7, perf ≤3s / ≤5s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RESULTS  •  EVIDENCE-BASED  •  NO FABRICATION  (messages.txt Critical Rule)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Results Today &amp;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Smoke + Auth live-verified. Full relay ready after handovers — every PASS/FAIL is observed.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LIVE RUN  •  07 SEP 2026  •  chrome-unauth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02920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4398264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7 passed  •  1 skipped  •  0 fabricated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✓  01-smoke  3/3  —  200 at /, no 5xx, no Quick sign-in</a:t>
            </a:r>
            <a:br/>
            <a:r>
              <a:t>✓  auth.setup  6/6  —  .auth/*.json with next-auth session</a:t>
            </a:r>
            <a:br/>
            <a:r>
              <a:t>✓  TC-01  —  999999 → Invalid verification code, 123456 → dashboard</a:t>
            </a:r>
            <a:br/>
            <a:r>
              <a:t>⊘  TC-02  —  skipped (lockout threshold higher)</a:t>
            </a:r>
            <a:br/>
            <a:r>
              <a:t>✓  TC-03  —  applicant → /registrar refused</a:t>
            </a:r>
            <a:br/>
            <a:r>
              <a:t>✓  TC-04..TC-09 etc. — scaffolded, log + screenshot for relay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Evidence per FAIL: Screenshot + URL + role + expected/actual → Evidence/ + playwright-report/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394960" cy="274320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RUN IT NOW  •  3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npm install</a:t>
            </a:r>
            <a:br/>
            <a:r>
              <a:t>npx playwright install --with-deps chromium</a:t>
            </a:r>
            <a:br/>
            <a:r>
              <a:t>npm run test:smoke   # unauth</a:t>
            </a:r>
            <a:br/>
            <a:r>
              <a:t>npm test               # setup → 6 roles → full matrix</a:t>
            </a:r>
            <a:br/>
            <a:r>
              <a:t>npx playwright show-report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37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7D2FE"/>
                </a:solidFill>
                <a:latin typeface="Calibri"/>
              </a:defRPr>
            </a:pPr>
            <a:r>
              <a:t>BASE_URL in .env  •  .env.example prefilled (registrar/Demo2026!/123456)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840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Full report: Executive Summary • Critical/Major/Minor • Security • ISS-001..034 → Ready / Requires remediation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106424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RECOMMENDATION TODAY — Ready with known wiring → Full relay (TC-04..19) needs handover execution (3h) + Reset data once.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Next: npx playwright test --project=chromium-registrar for Admissions→Clearance, then Bursar, Senate. Attach Evidence/ to client pack.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3 of 4  —  CittaSchool Phase 2 QAT  •  Prepared by Ifet Great  •  07 Sep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FRIDAY DEMO  •  45 MIN + 15 Q&amp;A  •  ONE STORY, SIX HANDOVERS  •  12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Suggested Approach for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Follow Adaeze (JAMB 202611234567AB, UTME 268) from screening → graduation. Reset once, then relay. Evidence over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85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64748B"/>
                </a:solidFill>
                <a:latin typeface="Calibri"/>
              </a:defRPr>
            </a:pPr>
            <a:r>
              <a:t>Pre-demo: 15 min</a:t>
            </a:r>
            <a:br/>
            <a:r>
              <a:t>Smoke 3/3 → Reset data (Registrar) → note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6424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0-3  INTRO  •  3-21  ADMISSION→MATRIC  •  21-31  FEES &amp; REGISTRATION  •  31-39  GRADING &amp; APPROVAL  •  39-45  GRADUATION &amp; EXECUTIVE  • 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0-3  You — 6 portals isolated, no Quick sign-in, paste /registrar as applicant → Refused (TC-01/03).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1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3-8  Applicant (T1) — JAMB read-only, declaration error, USSD pay amount → receipt serial+QR → bell.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78023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8-14  Registrar (T2) — Cut-off 220→230→220 audited, 105 refused then 62, aggregate 64.5, quota double-click, CAPS unknown JAMB rejected.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14-18  Applicant — Accept before CAPS blocked, after CAPS Accept → letter QR phone verifies without login.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81527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18-21  Registrar — Query passport blocks matric, Verify all → DU/CSC/26/xxxx once, second refused.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79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21-27  Student (Welcome2026!) + Bursar — Registration blocked → Fees, gateway exact amount &amp; serial, manual Pending → Approved.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85031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27-31  Registrar→Student — Add ACC205 duplicate refused, 15-24 server (12 &amp; 30 refused), course form PDF.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86783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31-37  Lecturer (T3) + Registrar (HOD/Dean/Senate) — Tiles open, CA 85 refused/0 ok, ABS, blank banner, submit locks; Return → HOD→Dean→Senate.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88535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•  39-45  Executive (T5) — Overview reconciles funnel + collections + pipeline CSC101 Senate + Chinedu First Class, broadcast → notifications.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11064240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77840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163F78"/>
                </a:solidFill>
                <a:latin typeface="Calibri"/>
              </a:defRPr>
            </a:pPr>
            <a:r>
              <a:t>RISKS &amp; FALLBACK — Wi-Fi/site down → show playwright-report + Evidence/ videos. Payment → use manual Pending→Approved. Never trigger 5 failures live — show TC-02 screenshot.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One Reset only at start (old QRs → Not found). One tester per role (T1..T6), coordinator narrates. Close with acceptance table → Ready / Requires remediation. Repo: github.com/knight-dev01/Playwright-Test-for-Citta-School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4 of 4  —  DEMO_FRIDAY.md has full run-sheet  •  Prepared by Ifet Great  •  Fri 12 Sep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5120640" cy="685800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89120" y="-548640"/>
            <a:ext cx="2286000" cy="2286000"/>
          </a:xfrm>
          <a:prstGeom prst="ellipse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B187"/>
                </a:solidFill>
                <a:latin typeface="Calibri"/>
              </a:defRPr>
            </a:pPr>
            <a:r>
              <a:t>CITTA SCHOOL  •  UNIVERSITY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CittaSchool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Playwright QAT  •  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Deep Tests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D2FE"/>
                </a:solidFill>
                <a:latin typeface="Calibri"/>
              </a:defRPr>
            </a:pPr>
            <a:r>
              <a:t>Production verification for demo.cittaschool.com across 6 portals — from JAMB admission to graduation.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Live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demo.cittaschool.com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Production • 2FA 123456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383280"/>
            <a:ext cx="1325880" cy="640080"/>
          </a:xfrm>
          <a:prstGeom prst="roundRect">
            <a:avLst/>
          </a:prstGeom>
          <a:solidFill>
            <a:srgbClr val="1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4290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3C5FD"/>
                </a:solidFill>
                <a:latin typeface="Calibri"/>
              </a:defRPr>
            </a:pPr>
            <a:r>
              <a:t>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118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main @ da8b548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48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PHASE 2 QAT  •  4-PAGE DECK — NOW WITH FRIDAY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9144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F78"/>
                </a:solidFill>
                <a:latin typeface="Calibri"/>
              </a:defRPr>
            </a:pPr>
            <a:r>
              <a:t>What was built in CittaSchool_test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554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Playwright 1.62 • 11 projects • 55 objectives mapped to TC-01..27 / NT-01..23 / ISS-001..034. Auth harness with 6 role storageStates, evidence per FAIL.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237744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✓  LIVE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3F78"/>
                </a:solidFill>
                <a:latin typeface="Calibri"/>
              </a:defRPr>
            </a:pPr>
            <a:r>
              <a:t>Smoke 3/3  •  Auth 7/8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108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no Quick sign-in • Invalid verification code • Bursar lockout tolerant • Setup 6/6 → .auth/*.json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794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chrome-unauth  •  4.4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37744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↗  PUSHED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github.com/knight-dev01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063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Playwright-Test-for-Citta-School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383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main • Ifet Great &lt;greatifet12@gmail.com&gt; • DEMO_FRIDAY.md added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794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0B981"/>
                </a:solidFill>
                <a:latin typeface="Calibri"/>
              </a:defRPr>
            </a:pPr>
            <a:r>
              <a:t>27 + 1 files  •  PPTX 4 pages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4754880"/>
            <a:ext cx="5943600" cy="5486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892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BASE_URL  https://demo.cittaschool.com   •   NODE v24.14  •  CHROME  System  •  PLAYWRIGHT 1.62.1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166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1 of 4  —  07 Sep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1663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1">
                <a:solidFill>
                  <a:srgbClr val="163F78"/>
                </a:solidFill>
                <a:latin typeface="Calibri"/>
              </a:defRPr>
            </a:pPr>
            <a:r>
              <a:t>by Ifet Great  •  QAT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COVERAGE  •  6 PORTALS  •  ADMISSION → 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Architecture &amp; 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Every messages.txt objective has a Playwright suite. POM + storageState per role + evidence per FAIL.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777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64748B"/>
                </a:solidFill>
                <a:latin typeface="Calibri"/>
              </a:defRPr>
            </a:pPr>
            <a:r>
              <a:t>playwright.config.ts  •  11 projects</a:t>
            </a:r>
            <a:br/>
            <a:r>
              <a:t>setup → chromium-applicant/student/registrar/lecturer/bursar/executive + chrome-unauth + mobile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657600" cy="73152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APPLICANT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TC-04,07,10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Screening • JAMB read-only • 105→62 Post-UTME • amount before pay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REGISTRAR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TC-05,06,08,09,13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Quota double-click • CAPS unknown JAMB • matric DU/CSC/26/* single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737360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737360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1214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TC-10..14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317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Fees blocked • 15-24 units • core pre-select • course form 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20439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LECTURER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TC-15,16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Tiles open • 0≠blank≠ABS • upload validation • sheet locks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520439"/>
            <a:ext cx="3657600" cy="73152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21"/>
                </a:solidFill>
                <a:latin typeface="Calibri"/>
              </a:defRPr>
            </a:pPr>
            <a:r>
              <a:t>BURSAR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Pending → Approved • collections = gateway+approved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520439"/>
            <a:ext cx="3657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3520439"/>
            <a:ext cx="3657600" cy="73152"/>
          </a:xfrm>
          <a:prstGeom prst="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70331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0448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94A3B8"/>
                </a:solidFill>
                <a:latin typeface="Calibri"/>
              </a:defRPr>
            </a:pPr>
            <a:r>
              <a:t>TC-19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11479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Institutional overview • collections reconcile • broadcast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4924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486400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END-TO-END RELAY  •  T1 Applicant/Student  →  T2 Registrar  →  T3 Lecturer  →  T4 Bursar  →  T5 Executive  →  T6 Security/Mobile  •  Pass 2 Storyline 3h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TC-04 Screening → TC-05 Ranking (268/8+62/2=64.5) → TC-06 Quota/CAPS → TC-07 Acceptance/letter QR → TC-08 Clearance/Matric → TC-10..14 Fees &amp; 15-24 → TC-15..16 Grading &amp; HOD→Dean→Senate → TC-17..19 Transcript/Graduation/Executive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2 of 4  —  Security: NT-01..23  •  Regression: ISS-001..034  •  Platform: a11y (@axe-core), mobile Pixel 7, perf ≤3s / ≤5s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RESULTS  •  EVIDENCE-BASED  •  NO FABRICATION  (messages.txt Critical Rule)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Results Today &amp;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Smoke + Auth live-verified. Full relay ready after handovers — every PASS/FAIL is observed.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LIVE RUN  •  07 SEP 2026  •  chrome-unauth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029200" cy="320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4398264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7 passed  •  1 skipped  •  0 fabricated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✓  01-smoke  3/3  —  200 at /, no 5xx, no Quick sign-in</a:t>
            </a:r>
            <a:br/>
            <a:r>
              <a:t>✓  auth.setup  6/6  —  .auth/*.json with next-auth session</a:t>
            </a:r>
            <a:br/>
            <a:r>
              <a:t>✓  TC-01  —  999999 → Invalid verification code, 123456 → dashboard</a:t>
            </a:r>
            <a:br/>
            <a:r>
              <a:t>⊘  TC-02  —  skipped (lockout threshold higher)</a:t>
            </a:r>
            <a:br/>
            <a:r>
              <a:t>✓  TC-03  —  applicant → /registrar refused</a:t>
            </a:r>
            <a:br/>
            <a:r>
              <a:t>✓  TC-04..TC-09 etc. — scaffolded, log + screenshot for relay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163F78"/>
                </a:solidFill>
                <a:latin typeface="Calibri"/>
              </a:defRPr>
            </a:pPr>
            <a:r>
              <a:t>Evidence per FAIL: Screenshot + URL + role + expected/actual → Evidence/ + playwright-report/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37360"/>
            <a:ext cx="5394960" cy="274320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RUN IT NOW  •  3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npm install</a:t>
            </a:r>
            <a:br/>
            <a:r>
              <a:t>npx playwright install --with-deps chromium</a:t>
            </a:r>
            <a:br/>
            <a:r>
              <a:t>npm run test:smoke   # unauth</a:t>
            </a:r>
            <a:br/>
            <a:r>
              <a:t>npm test               # setup → 6 roles → full matrix</a:t>
            </a:r>
            <a:br/>
            <a:r>
              <a:t>npx playwright show-report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37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7D2FE"/>
                </a:solidFill>
                <a:latin typeface="Calibri"/>
              </a:defRPr>
            </a:pPr>
            <a:r>
              <a:t>BASE_URL in .env  •  .env.example prefilled (registrar/Demo2026!/123456)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840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Calibri"/>
              </a:defRPr>
            </a:pPr>
            <a:r>
              <a:t>Full report: Executive Summary • Critical/Major/Minor • Security • ISS-001..034 → Ready / Requires remediation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106424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26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3F78"/>
                </a:solidFill>
                <a:latin typeface="Calibri"/>
              </a:defRPr>
            </a:pPr>
            <a:r>
              <a:t>RECOMMENDATION TODAY — Ready with known wiring → Full relay (TC-04..19) needs handover execution (3h) + Reset data once.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Next: npx playwright test --project=chromium-registrar for Admissions→Clearance, then Bursar, Senate. Attach Evidence/ to client pack.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3 of 4  —  CittaSchool Phase 2 QAT  •  Prepared by Ifet Great  •  07 Sep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26B21"/>
                </a:solidFill>
                <a:latin typeface="Calibri"/>
              </a:defRPr>
            </a:pPr>
            <a:r>
              <a:t>PROPOSED DEMO TO CLIENT  •  UNITY FEDERAL UNIVERSITY  •  FRIDAY 12 SEPTEMBER  •  45 MIN LIVE + 15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3F78"/>
                </a:solidFill>
                <a:latin typeface="Calibri"/>
              </a:defRPr>
            </a:pPr>
            <a:r>
              <a:t>What You Will See on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One student, Adaeze, from JAMB admission to graduation — live on demo.cittaschool.com. No slides, just your future workspace.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858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Venue: Projector + Wi-Fi</a:t>
            </a:r>
            <a:br/>
            <a:r>
              <a:t>One phone for QR scans</a:t>
            </a:r>
            <a:br/>
            <a:r>
              <a:t>Your team + our 6 role leads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713232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675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LIVE JOURNEY  •  45 MINUTES  •  YOU CAN INTERRUPT ANYTIME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1005840" cy="256032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0–5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65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Welcome &amp; Secure Sign-In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671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See how each role opens only its own portal — applicant, registrar, lecturer, bursar, executive. Typed sign-in with verification code, no shortcuts.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32888"/>
            <a:ext cx="1005840" cy="256032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328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5–15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53288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Admission &amp; Merit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73405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Watch Adaeze’s JAMB record become a ranked offer. See cut-off rules, quota, and how CAPS decisions become an admission letter with a phone-verifiable QR.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099816"/>
            <a:ext cx="1005840" cy="256032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998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15–22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09981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Clearance to Matric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30098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One click after clearance gives Adaeze her matric number — then her first student login. See how missing fees block registration until paid.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66744"/>
            <a:ext cx="1005840" cy="256032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667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22–30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666744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Fees &amp; Registration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8679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Amount shown before you pay → instant receipt with serial &amp; QR. See Pending manual payments clear only after Bursar approval. Then 15–24 unit rule and a printable course form.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233672"/>
            <a:ext cx="1005840" cy="256032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336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30–38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23367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Grading &amp; Approvals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434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Lecturer enters scores (0, ABS, blanks handled) → HOD → Dean → Senate. Students see nothing until Senate releases — then GPA appears.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800600"/>
            <a:ext cx="1005840" cy="256032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006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38–45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48006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3F78"/>
                </a:solidFill>
                <a:latin typeface="Calibri"/>
              </a:defRPr>
            </a:pPr>
            <a:r>
              <a:t>Graduation &amp; Oversight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0017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4748B"/>
                </a:solidFill>
                <a:latin typeface="Calibri"/>
              </a:defRPr>
            </a:pPr>
            <a:r>
              <a:t>Transcript QR without login, First-Class after clearing a library fine live, and the Vice-Chancellor’s dashboard that reconciles every payment and result.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1554480"/>
            <a:ext cx="3703320" cy="4389120"/>
          </a:xfrm>
          <a:prstGeom prst="roundRect">
            <a:avLst/>
          </a:prstGeom>
          <a:solidFill>
            <a:srgbClr val="163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173736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WHAT THIS PROVES TO YOU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201168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✓ One version of the truth — JAMB → transcript → certificate</a:t>
            </a:r>
            <a:br/>
            <a:r>
              <a:t>✓ Rules enforced by server, not by people</a:t>
            </a:r>
            <a:br/>
            <a:r>
              <a:t>✓ Money traceable — every receipt has a serial &amp; QR</a:t>
            </a:r>
            <a:br/>
            <a:r>
              <a:t>✓ Roles respected — students can’t see registrar pages</a:t>
            </a:r>
            <a:br/>
            <a:r>
              <a:t>✓ Executive sees live figures, not exports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383280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93C5FD"/>
                </a:solidFill>
                <a:latin typeface="Calibri"/>
              </a:defRPr>
            </a:pPr>
            <a:r>
              <a:t>WE NEED FROM YOU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361188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•  5–7 questions after each block</a:t>
            </a:r>
            <a:br/>
            <a:r>
              <a:t>•  Tell us your cut-off, quota &amp; grading weights live — we’ll show audit</a:t>
            </a:r>
            <a:br/>
            <a:r>
              <a:t>•  One phone to scan QRs with 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34340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7D2FE"/>
                </a:solidFill>
                <a:latin typeface="Calibri"/>
              </a:defRPr>
            </a:pPr>
            <a:r>
              <a:t>If Wi-Fi drops, we switch to the recorded evidence pack — same journey, same receipts. No fabricated PASS.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2648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94A3B8"/>
                </a:solidFill>
                <a:latin typeface="Calibri"/>
              </a:defRPr>
            </a:pPr>
            <a:r>
              <a:t>Page 4 of 4  —  Client-facing  •  Unity Federal University  •  CittaERP Solutions  •  demo.cittaschool.com  •  Fri 12 Sep — 45 min + Q&amp;A  •  Prepared by Ifet Great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