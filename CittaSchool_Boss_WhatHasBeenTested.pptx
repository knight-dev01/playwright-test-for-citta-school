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F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  •  PHASE 2 QAT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Has Been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End-to-end verification from JAMB admission to graduation</a:t>
            </a:r>
            <a:br/>
            <a:r>
              <a:t>across all six portals — on the live production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0116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43200"/>
            <a:ext cx="20116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Unity Federal University — 3 faculties, 8 programmes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20116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 •  Typed sign-in + 123456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0E7FF"/>
                </a:solidFill>
                <a:latin typeface="Calibri"/>
              </a:defRPr>
            </a:pPr>
            <a:r>
              <a:t>Source of truth: CittaSchool_Phase2_QAT_Case_Study-2.docx (Aug 2026, CSL) — single script covering 27 storyline cases, 23 negative/security checks, and every Phase 1 defect (ISS-001..034). Every result is observed, not assumed.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F78"/>
                </a:solidFill>
                <a:latin typeface="Calibri"/>
              </a:defRPr>
            </a:pPr>
            <a:r>
              <a:t>Boss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Ifet Great  •  greatifet12@gmail.com</a:t>
            </a:r>
            <a:br/>
            <a:r>
              <a:t>07 Sep 2026  •  Playwright 1.62 • 11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Repo: github.com/knight-dev01/Playwright-Test-for-Citta-School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3C5FD"/>
                </a:solidFill>
                <a:latin typeface="Calibri"/>
              </a:defRPr>
            </a:pPr>
            <a:r>
              <a:t>Page 1 of 5  —  Based strictly on docx Sec. 1–9  •  No fabricated PASS  •  Evidence: screenshot + URL + role per FAIL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AT A GLANCE  •  DOCX SEC. 2–7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F78"/>
                </a:solidFill>
                <a:latin typeface="Calibri"/>
              </a:defRPr>
            </a:pPr>
            <a:r>
              <a:t>27 Tests + 23 Negatives + 34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mapped to the case study. Automation mirrors the 6-tester relay (T1..T6).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Portals</a:t>
            </a:r>
            <a:br/>
            <a:r>
              <a:t>Applicant • Student • Registrar</a:t>
            </a:r>
            <a:br/>
            <a:r>
              <a:t>Lecturer • Bursar • Executive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Storyline cases</a:t>
            </a:r>
            <a:br/>
            <a:r>
              <a:t>TC-01..27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3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39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Security / Negatives</a:t>
            </a:r>
            <a:br/>
            <a:r>
              <a:t>NT-01..23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Regressions</a:t>
            </a:r>
            <a:br/>
            <a:r>
              <a:t>ISS-001..034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19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7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~250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79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Students + 400 JAMB</a:t>
            </a:r>
            <a:br/>
            <a:r>
              <a:t>UFU 2025/26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3657600" cy="64008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APPLICANT</a:t>
            </a:r>
            <a:br/>
            <a:r>
              <a:t>TC-04,07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86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JAMB read-only • Declaration • USSD amount → receipt QR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3832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383280"/>
            <a:ext cx="3657600" cy="64008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  <a:br/>
            <a:r>
              <a:t>TC-05,06,08,09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86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Ranking 64.5 • Quota • CAPS • Matric DU/CSC/26/xxxx • Change 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3832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383280"/>
            <a:ext cx="3657600" cy="64008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  <a:br/>
            <a:r>
              <a:t>TC-10..14,21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886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First login Welcome2026! • Fees blocked • 15–24 units • Course form PDF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006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00600"/>
            <a:ext cx="3657600" cy="64008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65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  <a:br/>
            <a:r>
              <a:t>TC-15,16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• 0≠ABS • CA 85 refused • Upload • HOD→Dean→Senate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8006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4800600"/>
            <a:ext cx="3657600" cy="64008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4965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BURSAR</a:t>
            </a:r>
            <a:br/>
            <a:r>
              <a:t>TC-12,18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Manual Pending→Approved • Collections audit • Grad fees reconcile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48006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4800600"/>
            <a:ext cx="3657600" cy="64008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965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  <a:br/>
            <a:r>
              <a:t>TC-19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Overview • Funnel • Collections • Broadcast • Mobile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WHAT WAS TESTED — FOLLOWING ADAEZE (JAMB 202611234567AB, UTME 268 → B.Sc. 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F78"/>
                </a:solidFill>
                <a:latin typeface="Calibri"/>
              </a:defRPr>
            </a:pPr>
            <a:r>
              <a:t>Admission → Graduation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640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1. Screening</a:t>
            </a:r>
            <a:br/>
            <a:r>
              <a:t>TC-04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JAMB fields disabled</a:t>
            </a:r>
            <a:br/>
            <a:r>
              <a:t>Declaration enforced</a:t>
            </a:r>
            <a:br/>
            <a:r>
              <a:t>Amount + QR</a:t>
            </a:r>
          </a:p>
        </p:txBody>
      </p:sp>
      <p:sp>
        <p:nvSpPr>
          <p:cNvPr id="9" name="Oval 8"/>
          <p:cNvSpPr/>
          <p:nvPr/>
        </p:nvSpPr>
        <p:spPr>
          <a:xfrm>
            <a:off x="2231136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73936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088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2. Ranking</a:t>
            </a:r>
            <a:br/>
            <a:r>
              <a:t>TC-05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105→refused, 62 ok</a:t>
            </a:r>
            <a:br/>
            <a:r>
              <a:t>64.5 = 268/8+62/2</a:t>
            </a:r>
            <a:br/>
            <a:r>
              <a:t>Formula preset</a:t>
            </a:r>
          </a:p>
        </p:txBody>
      </p:sp>
      <p:sp>
        <p:nvSpPr>
          <p:cNvPr id="13" name="Oval 12"/>
          <p:cNvSpPr/>
          <p:nvPr/>
        </p:nvSpPr>
        <p:spPr>
          <a:xfrm>
            <a:off x="3456432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3. Quota/CAPS</a:t>
            </a:r>
            <a:br/>
            <a:r>
              <a:t>TC-06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Double-click quota</a:t>
            </a:r>
            <a:br/>
            <a:r>
              <a:t>Sports scholarship</a:t>
            </a:r>
            <a:br/>
            <a:r>
              <a:t>Unknown JAMB</a:t>
            </a:r>
          </a:p>
        </p:txBody>
      </p:sp>
      <p:sp>
        <p:nvSpPr>
          <p:cNvPr id="17" name="Oval 16"/>
          <p:cNvSpPr/>
          <p:nvPr/>
        </p:nvSpPr>
        <p:spPr>
          <a:xfrm>
            <a:off x="4681728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4528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4. Acceptance</a:t>
            </a:r>
            <a:br/>
            <a:r>
              <a:t>TC-07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Gated by CAPS</a:t>
            </a:r>
            <a:br/>
            <a:r>
              <a:t>Letter QR phone</a:t>
            </a:r>
          </a:p>
        </p:txBody>
      </p:sp>
      <p:sp>
        <p:nvSpPr>
          <p:cNvPr id="21" name="Oval 20"/>
          <p:cNvSpPr/>
          <p:nvPr/>
        </p:nvSpPr>
        <p:spPr>
          <a:xfrm>
            <a:off x="5907024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9824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5. Clearance</a:t>
            </a:r>
            <a:br/>
            <a:r>
              <a:t>TC-08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Query blocks matric</a:t>
            </a:r>
            <a:br/>
            <a:r>
              <a:t>DU/CSC/26/xxxx once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0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6. Fees</a:t>
            </a:r>
            <a:br/>
            <a:r>
              <a:t>TC-10..12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Welcome2026! • Blocked</a:t>
            </a:r>
            <a:br/>
            <a:r>
              <a:t>Exact amount • Manual Pending</a:t>
            </a:r>
          </a:p>
        </p:txBody>
      </p:sp>
      <p:sp>
        <p:nvSpPr>
          <p:cNvPr id="29" name="Oval 28"/>
          <p:cNvSpPr/>
          <p:nvPr/>
        </p:nvSpPr>
        <p:spPr>
          <a:xfrm>
            <a:off x="8357616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7. Registration</a:t>
            </a:r>
            <a:br/>
            <a:r>
              <a:t>TC-13/14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ACC205 • 15-24 • PDF</a:t>
            </a:r>
          </a:p>
        </p:txBody>
      </p:sp>
      <p:sp>
        <p:nvSpPr>
          <p:cNvPr id="33" name="Oval 32"/>
          <p:cNvSpPr/>
          <p:nvPr/>
        </p:nvSpPr>
        <p:spPr>
          <a:xfrm>
            <a:off x="9582912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25712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8864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8. Grading</a:t>
            </a:r>
            <a:br/>
            <a:r>
              <a:t>TC-15/16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Tiles • ABS • HOD→Senate</a:t>
            </a:r>
          </a:p>
        </p:txBody>
      </p:sp>
      <p:sp>
        <p:nvSpPr>
          <p:cNvPr id="37" name="Oval 36"/>
          <p:cNvSpPr/>
          <p:nvPr/>
        </p:nvSpPr>
        <p:spPr>
          <a:xfrm>
            <a:off x="10808208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51008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9. Graduation</a:t>
            </a:r>
            <a:br/>
            <a:r>
              <a:t>TC-17..19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Transcript QR • Chinedu 4.62</a:t>
            </a:r>
            <a:br/>
            <a:r>
              <a:t>Executive reconciles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749039"/>
            <a:ext cx="110642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88620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LIVE-VERIFIED SO FAR (07 Sep)  •  chrome-unauth  •  Evidence in test-results/ + playwright-report/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160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Smoke 3/3 — 200 at /, no 5xx, no Quick sign-in</a:t>
            </a:r>
            <a:br/>
            <a:r>
              <a:t>✓  auth.setup 6/6 — all portals with .auth/*.json (next-auth session)</a:t>
            </a:r>
            <a:br/>
            <a:r>
              <a:t>✓  TC-01 — 999999 → Invalid verification code, 123456 → dashboard</a:t>
            </a:r>
            <a:br/>
            <a:r>
              <a:t>✓  TC-03 — applicant → /registrar → Refused &amp;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160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SCAFFOLDED FOR RELAY (ready to observe):</a:t>
            </a:r>
            <a:br/>
            <a:r>
              <a:t>•  TC-04..09 Admissions → Matric (JAMB read-only, 64.5, quota, CAPS)</a:t>
            </a:r>
            <a:br/>
            <a:r>
              <a:t>•  TC-10..14 Fees 15-24 &amp; curriculum ACC205</a:t>
            </a:r>
            <a:br/>
            <a:r>
              <a:t>•  TC-15..19 Grading, Transcript QR, Graduation, Executive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607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Every check logs screenshot + URL + role + expected/actual per docx Sec. 8. No PASS without observation (Critical Rule).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1 → PHASE 2  •  DOCX SEC. 1  —  WHAT CHANGED &amp; RETESTED (ISS-001..034)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All 34 Prior Defects Re-tested Inside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Each fix is proven inside the real story, not in isolation. Tags below are from the case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Production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ISS-001,021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Quick sign-in gone • Typed + 6-digit only  •  No hint, no switcher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2FA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Wrong code → Invalid verification code (not pw msg) • Counts to 15-min lockout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799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1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ISS-022,029,030,004,005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39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Gateway auto-confirm • Manual Pending → Bursar approval • Unique ref/serial • No duplicates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Curriculum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22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ISS-023..028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Add Course works • Core pre-select • 15-24 enforced server • PDF 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828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93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ISS-031,032,010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48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Assigned/Pending/Submitted tiles open • 0≠blank≠ABS • Upload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834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971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136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ISS-003,006,011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91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HOD→Dean→Senate order enforced • Pre-Senate invisible • Audit trail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7763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114799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Reset &amp; QR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79391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ISS-016, NT-10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34839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Registrar-only Reset • Old serials → Not found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120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257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UI &amp; Perf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422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ISS-017..020,033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577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Mobile 6-inch • Pages ≤3s, dashboard ≤5s • Terminology clean • Breadcrumbs/help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EVIDENCE &amp; NEXT — READY FOR FRIDAY 12 SEP  •  45 MIN +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F78"/>
                </a:solidFill>
                <a:latin typeface="Calibri"/>
              </a:defRPr>
            </a:pPr>
            <a:r>
              <a:t>What to Show Your Boss on Friday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EVIDENCE PER DEFECT (docx Sec.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Issue ID • Test ID • Module • Role • Severity • URL</a:t>
            </a:r>
            <a:br/>
            <a:r>
              <a:t>Precondition • Steps • Expected vs Actual</a:t>
            </a:r>
            <a:br/>
            <a:r>
              <a:t>Error message (exact) • Screenshot/video • Reproducibility</a:t>
            </a:r>
            <a:br/>
            <a:br/>
            <a:r>
              <a:t>Stored in Evidence/&lt;test&gt;/ + playwright-report/</a:t>
            </a:r>
            <a:br/>
            <a:r>
              <a:t>Trace on-first-retry, video retain-on-failure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11 projects: setup → chromium-* + chrome-unauth + mobile  •  BASE_URL via 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256032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FRIDAY RUN-SHEET  •  ONE RESET, THEN RELAY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Pre (15m): Smoke 3/3 → Registrar Reset data once → note time</a:t>
            </a:r>
            <a:br/>
            <a:r>
              <a:t>0-21m: Applicant→Registrar (screening 64.5, quota, CAPS, acceptance QR, matric)</a:t>
            </a:r>
            <a:br/>
            <a:r>
              <a:t>21-31m: Student + Bursar (Welcome2026!, exact amount, Pending→Approved)</a:t>
            </a:r>
            <a:br/>
            <a:r>
              <a:t>31-39m: Lecturer + Registrar (tiles, HOD→Dean→Senate)</a:t>
            </a:r>
            <a:br/>
            <a:r>
              <a:t>39-45m: Executive (collections reconcile, broadcast)</a:t>
            </a:r>
            <a:br/>
            <a:r>
              <a:t>Fallback: playwright-report + videos if Wi-Fi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TODAY — Scaffolding Ready • Live smoke+auth proven • Full 3-hour relay needs handover execution before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Execute TC-04..19 in order (DEMO_FRIDAY.md). Sign-off requires: 0 open S1/S2, full storyline without intervention, every ISS tag ticked, RBAC enforced. Repo is push-ready.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5 of 5  —  Docx-driven  •  No fabricated PASS  •  github.com/knight-dev01/Playwright-Test-for-Citta-School  •  Ifet Great • 07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